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2" r:id="rId13"/>
    <p:sldId id="270" r:id="rId14"/>
    <p:sldId id="271" r:id="rId15"/>
    <p:sldId id="273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624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rihuaa?tab=repositori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303520" y="-1371600"/>
            <a:ext cx="5486400" cy="5486400"/>
          </a:xfrm>
          <a:prstGeom prst="ellipse">
            <a:avLst/>
          </a:prstGeom>
          <a:solidFill>
            <a:srgbClr val="0F3460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943600" y="182880"/>
            <a:ext cx="4114800" cy="4114800"/>
          </a:xfrm>
          <a:prstGeom prst="ellipse">
            <a:avLst/>
          </a:prstGeom>
          <a:solidFill>
            <a:srgbClr val="E94560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02920" y="64008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SOLUCIÓN PARA PELUQUERÍAS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AgendaFlow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all-in-one que transforma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gestionas tu negocio de belleza.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Reservas Online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31720" y="34290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233172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Analytics en Tiempo Real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3429000"/>
            <a:ext cx="1737360" cy="347472"/>
          </a:xfrm>
          <a:prstGeom prst="roundRect">
            <a:avLst>
              <a:gd name="adj" fmla="val 26316"/>
            </a:avLst>
          </a:prstGeom>
          <a:solidFill>
            <a:srgbClr val="0F34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206240" y="3429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Multi-rol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agendaflow.com  ·  La tecnología detrás de tu negocio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¿Te suena familiar?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498080" y="320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</a:rPr>
              <a:t>EL PROBLEMA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9748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Teléfono sin parar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54203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llaman para preguntar disponibilidad. Interrupciones constantes que cortan el servicio.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72968" y="11887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172968" y="1188720"/>
            <a:ext cx="269748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Empleados sin agenda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10128" y="254203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día empieza con el caos de saber quién trabaja, qué citas tiene y cuándo llega cada cliente.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25896" y="118872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025896" y="1188720"/>
            <a:ext cx="269748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4173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3056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visión del negocio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163056" y="254203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peluquero genera más ingresos? ¿Cuál es tu servicio más rentable? Sin datos, sin respuestas.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2A4"/>
                </a:solidFill>
              </a:rPr>
              <a:t>Las peluquerías pierden hasta un 30% de sus ingresos por citas mal gestionadas.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029200" y="457200"/>
            <a:ext cx="4572000" cy="4572000"/>
          </a:xfrm>
          <a:prstGeom prst="ellipse">
            <a:avLst/>
          </a:prstGeom>
          <a:solidFill>
            <a:srgbClr val="0F3460">
              <a:alpha val="3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LA SOLUCIÓN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plataforma.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bajo control.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AgendaFlow centraliza reservas, empleados, servicios y analíticas en una sola herramienta web. Disponible en 60 segundos.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914400"/>
            <a:ext cx="3474720" cy="566928"/>
          </a:xfrm>
          <a:prstGeom prst="rect">
            <a:avLst/>
          </a:prstGeom>
          <a:solidFill>
            <a:srgbClr val="0F3460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394960" y="9144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Reservas online 24/7 — sin llamadas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0" y="1627632"/>
            <a:ext cx="3474720" cy="566928"/>
          </a:xfrm>
          <a:prstGeom prst="rect">
            <a:avLst/>
          </a:prstGeom>
          <a:solidFill>
            <a:srgbClr val="0F3460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394960" y="16276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por rol: Admin · Empleado · Cliente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303520" y="2340864"/>
            <a:ext cx="3474720" cy="566928"/>
          </a:xfrm>
          <a:prstGeom prst="rect">
            <a:avLst/>
          </a:prstGeom>
          <a:solidFill>
            <a:srgbClr val="0F3460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394960" y="23408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 en tiempo real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0" y="3054096"/>
            <a:ext cx="3474720" cy="566928"/>
          </a:xfrm>
          <a:prstGeom prst="rect">
            <a:avLst/>
          </a:prstGeom>
          <a:solidFill>
            <a:srgbClr val="0F3460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394960" y="30540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Reseñas y ratings integrados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03520" y="3767328"/>
            <a:ext cx="3474720" cy="566928"/>
          </a:xfrm>
          <a:prstGeom prst="rect">
            <a:avLst/>
          </a:prstGeom>
          <a:solidFill>
            <a:srgbClr val="0F3460">
              <a:alpha val="7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5394960" y="37673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Seguridad de nivel empresarial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Setup en menos de 1 minuto · Sin configuración compleja · Listo para usar desde el día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pensadas para tu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</a:rPr>
              <a:t>PRODUCTO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4864" cy="169164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441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307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 Online en 3 pasos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" y="1801368"/>
            <a:ext cx="2532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eligen servicio, empleado y horario desde cualquier dispositivo. Sin llamadas, sin esperas.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54680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3154680" y="1143000"/>
            <a:ext cx="54864" cy="169164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34416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307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Admin Completo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291840" y="1801368"/>
            <a:ext cx="2532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en vivo, gestión de empleados, servicios, horarios y reservas desde un único dashboard.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035040" y="1143000"/>
            <a:ext cx="54864" cy="16916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3441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29400" y="130759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Avanzados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172200" y="1801368"/>
            <a:ext cx="2532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por período y empleado, horas trabajadas, ratings y métricas para tomar mejores decisiones.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274320" y="3017520"/>
            <a:ext cx="54864" cy="169164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21868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318211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Reseñas y Ratings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11480" y="3675888"/>
            <a:ext cx="2532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valoran a cada profesional. Fideliza con calidad medible y detecta áreas de mejora.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154680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3154680" y="3017520"/>
            <a:ext cx="54864" cy="169164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321868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749040" y="318211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Empresarial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291840" y="3675888"/>
            <a:ext cx="2532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bcrypt, rate-limiting y Helmet. Tus datos y los de tus clientes siempre protegidos.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035040" y="3017520"/>
            <a:ext cx="27432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4"/>
          <p:cNvSpPr/>
          <p:nvPr/>
        </p:nvSpPr>
        <p:spPr>
          <a:xfrm>
            <a:off x="6035040" y="3017520"/>
            <a:ext cx="54864" cy="1691640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21868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318211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Responsive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172200" y="3675888"/>
            <a:ext cx="25328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perfectamente en móvil, tablet y escritorio. Tu negocio siempre accesible desde cualquier lugar.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roles. Un ecosistema.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AF0"/>
                </a:solidFill>
              </a:rPr>
              <a:t>Cada usuario ve exactamente lo que necesita — y solo lo que necesita.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743200" cy="3383280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50292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   </a:t>
            </a:r>
            <a:r>
              <a:rPr lang="en-US" sz="1500" b="1" dirty="0" err="1">
                <a:solidFill>
                  <a:srgbClr val="FFFFFF"/>
                </a:solidFill>
              </a:rPr>
              <a:t>Cliente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en 3 pasos desde el móvil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su historial completo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citas fácilmente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reseñas post-servicio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463040"/>
            <a:ext cx="2743200" cy="3383280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154680" y="1463040"/>
            <a:ext cx="2743200" cy="50292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15468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  </a:t>
            </a:r>
            <a:r>
              <a:rPr lang="en-US" sz="1500" b="1" dirty="0" err="1">
                <a:solidFill>
                  <a:srgbClr val="FFFFFF"/>
                </a:solidFill>
              </a:rPr>
              <a:t>Empleado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37560" y="21031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sus citas del día al llegar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próximas reservas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estado de cita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a datos sensibles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743200" cy="3383280"/>
          </a:xfrm>
          <a:prstGeom prst="rect">
            <a:avLst/>
          </a:prstGeom>
          <a:solidFill>
            <a:srgbClr val="0F3460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041525" y="1463040"/>
            <a:ext cx="274320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03504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     Admin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103120"/>
            <a:ext cx="2423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KPIs en vivo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servicios y precios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horarios por empleado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analytics completos</a:t>
            </a:r>
            <a:endParaRPr lang="en-US" sz="1200" dirty="0"/>
          </a:p>
        </p:txBody>
      </p:sp>
      <p:sp>
        <p:nvSpPr>
          <p:cNvPr id="18" name="AutoShape 6" descr="Person SVG Vector Icon">
            <a:extLst>
              <a:ext uri="{FF2B5EF4-FFF2-40B4-BE49-F238E27FC236}">
                <a16:creationId xmlns:a16="http://schemas.microsoft.com/office/drawing/2014/main" id="{16A742BB-68C1-90E3-5EFD-618E3E8C31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21" name="AutoShape 12" descr="Person Vector SVG Icon - SVG Repo">
            <a:extLst>
              <a:ext uri="{FF2B5EF4-FFF2-40B4-BE49-F238E27FC236}">
                <a16:creationId xmlns:a16="http://schemas.microsoft.com/office/drawing/2014/main" id="{DEAD5882-91CD-7D16-69D7-6C17124B12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73428" y="156458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2871C3E4-16BD-0E61-EE09-11820C89A0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828" y="1534500"/>
            <a:ext cx="360000" cy="360000"/>
          </a:xfrm>
          <a:prstGeom prst="rect">
            <a:avLst/>
          </a:prstGeom>
        </p:spPr>
      </p:pic>
      <p:pic>
        <p:nvPicPr>
          <p:cNvPr id="24" name="Picture 6" descr="Scissors icon vector image">
            <a:extLst>
              <a:ext uri="{FF2B5EF4-FFF2-40B4-BE49-F238E27FC236}">
                <a16:creationId xmlns:a16="http://schemas.microsoft.com/office/drawing/2014/main" id="{56CCB9BE-0B2E-70C1-B5C9-89BC6C83A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220" y="157050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aptop User">
            <a:extLst>
              <a:ext uri="{FF2B5EF4-FFF2-40B4-BE49-F238E27FC236}">
                <a16:creationId xmlns:a16="http://schemas.microsoft.com/office/drawing/2014/main" id="{CB60FE00-9068-D76E-FD6D-DF412A208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257" y="153450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real en tu negocio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94560"/>
                </a:solidFill>
              </a:rPr>
              <a:t>ROI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29968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74320" y="21214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telefónicas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2029968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450592" y="126187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2450592" y="21214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26864" y="1143000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2029968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4626864" y="126187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626864" y="21214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negocio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2029968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803136" y="1143000"/>
            <a:ext cx="2029968" cy="6400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803136" y="126187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980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60s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6803136" y="21214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2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200400"/>
            <a:ext cx="347472" cy="347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22960" y="306324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 — Automatiza reservas, confirmaciones y recordatorios sin intervención manual.</a:t>
            </a:r>
            <a:endParaRPr lang="en-US" sz="11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200400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85232" y="3063240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ingresos — Detecta qué servicios y empleados son más rentables y potencia lo que funciona.</a:t>
            </a:r>
            <a:endParaRPr lang="en-US" sz="11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05072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2960" y="386791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cancelaciones — Los clientes gestionan sus citas online, reduciendo olvidos y no-shows.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0507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285232" y="386791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experiencia cliente — Portal propio, historial, reseñas. Fidelización desde el primer servicio.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AgendaFlow?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4560"/>
                </a:solidFill>
              </a:rPr>
              <a:t>DIFERENCIADORES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005840"/>
          <a:ext cx="7726680" cy="351129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Característica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AgendaFlow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Agenda en papel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8EAF0"/>
                          </a:solidFill>
                        </a:rPr>
                        <a:t>App genérica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Reservas 24/7 online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Panel multi-rol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Analytics integrado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Reseñas por empleado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Setup &lt; 1 minuto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Seguridad empresarial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±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5A623"/>
                          </a:solidFill>
                        </a:rPr>
                        <a:t>Módulos activables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94560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quién es AgendaFlow?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14300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56032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69264" y="1252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Peluquerías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" y="18562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 y medianas, con 1-10 empleados. Gestionan cortes, tintes y tratamientos capilares.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36392" y="114300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136392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9624" y="1252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Salones de Belleza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3552" y="18562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Manicura, pedicura, tratamientos faciales. Clientes recurrentes que valoran la organización.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16752" y="114300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016752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729984" y="1252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Clínicas de Estética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53912" y="185623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servicios especializados. Necesitan control de agenda y datos de rendimiento.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301752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256032" y="3108960"/>
            <a:ext cx="47865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9264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Franquicias &amp; Cadenas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" y="37307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locales que comparten metodología. Escalable a múltiples centros con coherencia.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36392" y="301752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136392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849624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Centros de Spa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73552" y="37307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 premium. Fidelización, ratings y agenda personalizada por terapeuta.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16752" y="3017520"/>
            <a:ext cx="274320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016752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29984" y="31272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Barberías Modernas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53912" y="373075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generaciones que exigen reserva online y notificaciones digitales.</a:t>
            </a:r>
            <a:endParaRPr lang="en-US" sz="1050" dirty="0"/>
          </a:p>
        </p:txBody>
      </p:sp>
      <p:pic>
        <p:nvPicPr>
          <p:cNvPr id="1030" name="Picture 6" descr="Scissors icon vector image">
            <a:extLst>
              <a:ext uri="{FF2B5EF4-FFF2-40B4-BE49-F238E27FC236}">
                <a16:creationId xmlns:a16="http://schemas.microsoft.com/office/drawing/2014/main" id="{44881751-55AB-5B5F-D359-2CBCF32D2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20" y="1316592"/>
            <a:ext cx="375048" cy="375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Black nail polish splash: Más de 1,4 mil ilustraciones y ...">
            <a:extLst>
              <a:ext uri="{FF2B5EF4-FFF2-40B4-BE49-F238E27FC236}">
                <a16:creationId xmlns:a16="http://schemas.microsoft.com/office/drawing/2014/main" id="{BA5D3ABC-9224-D68B-EEB8-A8171D203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700" y="1252728"/>
            <a:ext cx="480492" cy="48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hop 2">
            <a:extLst>
              <a:ext uri="{FF2B5EF4-FFF2-40B4-BE49-F238E27FC236}">
                <a16:creationId xmlns:a16="http://schemas.microsoft.com/office/drawing/2014/main" id="{52161664-7238-8728-EE03-0E45ACA76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332" y="3154536"/>
            <a:ext cx="439200" cy="43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omen face">
            <a:extLst>
              <a:ext uri="{FF2B5EF4-FFF2-40B4-BE49-F238E27FC236}">
                <a16:creationId xmlns:a16="http://schemas.microsoft.com/office/drawing/2014/main" id="{7CE402EA-6E1B-2CDB-07DC-04E30E1FF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080" y="6711408"/>
            <a:ext cx="57591" cy="5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arber Shop Pole">
            <a:extLst>
              <a:ext uri="{FF2B5EF4-FFF2-40B4-BE49-F238E27FC236}">
                <a16:creationId xmlns:a16="http://schemas.microsoft.com/office/drawing/2014/main" id="{9321381E-D482-9B85-71F4-04EE82D43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570" y="316697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D487EBFE-969C-1EE8-A797-66CA202502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0687" y="3141775"/>
            <a:ext cx="482518" cy="439200"/>
          </a:xfrm>
          <a:prstGeom prst="rect">
            <a:avLst/>
          </a:prstGeom>
        </p:spPr>
      </p:pic>
      <p:pic>
        <p:nvPicPr>
          <p:cNvPr id="1040" name="Picture 16" descr="Alternative medicine icon">
            <a:extLst>
              <a:ext uri="{FF2B5EF4-FFF2-40B4-BE49-F238E27FC236}">
                <a16:creationId xmlns:a16="http://schemas.microsoft.com/office/drawing/2014/main" id="{24047765-68BC-884C-14E7-03C0564A3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6570" y="1252440"/>
            <a:ext cx="439200" cy="43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4560"/>
                </a:solidFill>
              </a:rPr>
              <a:t>TECNOLOGÍA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Construido para durar.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Preparado para crecer.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" y="1737360"/>
            <a:ext cx="2743200" cy="1389888"/>
          </a:xfrm>
          <a:prstGeom prst="rect">
            <a:avLst/>
          </a:prstGeom>
          <a:solidFill>
            <a:srgbClr val="0F3460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256032" y="1737360"/>
            <a:ext cx="2743200" cy="64008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93192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Interfaz Web Moderna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página única (SPA) ultra-rápida. Experiencia fluida como una app nativa, sin instalaciones.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36392" y="1737360"/>
            <a:ext cx="2743200" cy="1389888"/>
          </a:xfrm>
          <a:prstGeom prst="rect">
            <a:avLst/>
          </a:prstGeom>
          <a:solidFill>
            <a:srgbClr val="0F3460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136392" y="1737360"/>
            <a:ext cx="27432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273552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Robusta y Segura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73552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estructurado en capas. Cada petición pasa por autenticación, validación y control de permisos.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16752" y="1737360"/>
            <a:ext cx="2743200" cy="1389888"/>
          </a:xfrm>
          <a:prstGeom prst="rect">
            <a:avLst/>
          </a:prstGeom>
          <a:solidFill>
            <a:srgbClr val="0F3460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016752" y="173736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153912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de Datos Confiable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53912" y="2240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local de alto rendimiento. Backups sencillos. Migrable a soluciones cloud en cualquier momento.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3273552"/>
            <a:ext cx="2743200" cy="1389888"/>
          </a:xfrm>
          <a:prstGeom prst="rect">
            <a:avLst/>
          </a:prstGeom>
          <a:solidFill>
            <a:srgbClr val="0F3460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56032" y="3273552"/>
            <a:ext cx="2743200" cy="640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93192" y="3383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 Multicapa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93192" y="37764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acceso renovables, contraseñas encriptadas, límite de intentos y cabeceras de seguridad HTTP.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36392" y="3273552"/>
            <a:ext cx="2743200" cy="1389888"/>
          </a:xfrm>
          <a:prstGeom prst="rect">
            <a:avLst/>
          </a:prstGeom>
          <a:solidFill>
            <a:srgbClr val="0F3460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136392" y="3273552"/>
            <a:ext cx="2743200" cy="6400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273552" y="3383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Modular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73552" y="37764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o desactiva módulos (Analytics, Reseñas) sin afectar el resto. Paga solo por lo que usas.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16752" y="3273552"/>
            <a:ext cx="2743200" cy="1389888"/>
          </a:xfrm>
          <a:prstGeom prst="rect">
            <a:avLst/>
          </a:prstGeom>
          <a:solidFill>
            <a:srgbClr val="0F3460">
              <a:alpha val="75000"/>
            </a:srgbClr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6016752" y="3273552"/>
            <a:ext cx="2743200" cy="64008"/>
          </a:xfrm>
          <a:prstGeom prst="rect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6153912" y="33832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53912" y="37764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adaptado a todos los dispositivos. Tus empleados y clientes acceden desde el móvil sin problemas.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grama PERT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00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E94560"/>
                </a:solidFill>
              </a:rPr>
              <a:t>PLANIFICACIÓN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390000"/>
            <a:ext cx="822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3000" b="1" dirty="0">
                <a:solidFill>
                  <a:srgbClr val="FFFFFF"/>
                </a:solidFill>
              </a:rPr>
              <a:t>Diagrama PERT y Camino Crítico</a:t>
            </a:r>
          </a:p>
        </p:txBody>
      </p:sp>
      <p:sp>
        <p:nvSpPr>
          <p:cNvPr id="5" name="PathBar"/>
          <p:cNvSpPr/>
          <p:nvPr/>
        </p:nvSpPr>
        <p:spPr>
          <a:xfrm>
            <a:off x="228600" y="3950000"/>
            <a:ext cx="8686800" cy="380000"/>
          </a:xfrm>
          <a:prstGeom prst="rect">
            <a:avLst/>
          </a:prstGeom>
          <a:solidFill>
            <a:srgbClr val="0F1A35"/>
          </a:solidFill>
          <a:ln w="19050">
            <a:solidFill>
              <a:srgbClr val="E94560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ES" sz="1200" b="1" dirty="0">
                <a:solidFill>
                  <a:srgbClr val="E94560"/>
                </a:solidFill>
              </a:rPr>
              <a:t>Camino crítico: </a:t>
            </a:r>
            <a:r>
              <a:rPr lang="es-ES" sz="1200" b="0" dirty="0">
                <a:solidFill>
                  <a:srgbClr val="FFFFFF"/>
                </a:solidFill>
              </a:rPr>
              <a:t>T1 → T2 → T3 → T4 → T10 → T16 → T17 → T18 → T20   |   Duración mínima: 68 h-persona efectivas</a:t>
            </a:r>
          </a:p>
        </p:txBody>
      </p:sp>
      <p:sp>
        <p:nvSpPr>
          <p:cNvPr id="6" name="Footer"/>
          <p:cNvSpPr/>
          <p:nvPr/>
        </p:nvSpPr>
        <p:spPr>
          <a:xfrm>
            <a:off x="457200" y="440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dirty="0">
                <a:solidFill>
                  <a:srgbClr val="7A8BA0"/>
                </a:solidFill>
              </a:rPr>
              <a:t>Nodos rojos = sin holgura (camino crítico)   ·   Nodos blancos = con holgura (pueden retrasarse sin afectar la defensa)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293762F-FE31-F83E-6E91-46781C2C5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6" y="890000"/>
            <a:ext cx="6668588" cy="2944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grama Gantt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/>
          <p:nvPr/>
        </p:nvSpPr>
        <p:spPr>
          <a:xfrm>
            <a:off x="457200" y="200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dirty="0">
                <a:solidFill>
                  <a:srgbClr val="E94560"/>
                </a:solidFill>
              </a:rPr>
              <a:t>PLANIFICACIÓN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390000"/>
            <a:ext cx="822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3000" b="1" dirty="0">
                <a:solidFill>
                  <a:srgbClr val="FFFFFF"/>
                </a:solidFill>
              </a:rPr>
              <a:t>Diagrama de Gantt y Seguimiento</a:t>
            </a:r>
          </a:p>
        </p:txBody>
      </p:sp>
      <p:sp>
        <p:nvSpPr>
          <p:cNvPr id="5" name="Hitos"/>
          <p:cNvSpPr/>
          <p:nvPr/>
        </p:nvSpPr>
        <p:spPr>
          <a:xfrm>
            <a:off x="228600" y="4000000"/>
            <a:ext cx="8686800" cy="700000"/>
          </a:xfrm>
          <a:prstGeom prst="rect">
            <a:avLst/>
          </a:prstGeom>
          <a:solidFill>
            <a:srgbClr val="0F1A35"/>
          </a:solidFill>
          <a:ln w="19050">
            <a:solidFill>
              <a:srgbClr val="E94560"/>
            </a:solidFill>
          </a:ln>
        </p:spPr>
        <p:txBody>
          <a:bodyPr wrap="square" lIns="114300" tIns="57150" rIns="114300" bIns="57150" rtlCol="0" anchor="ctr"/>
          <a:lstStyle/>
          <a:p>
            <a:pPr marL="0" indent="0" algn="ctr">
              <a:buNone/>
            </a:pPr>
            <a:r>
              <a:rPr lang="es-ES" sz="1000" b="1" dirty="0">
                <a:solidFill>
                  <a:srgbClr val="E94560"/>
                </a:solidFill>
              </a:rPr>
              <a:t>Hitos clave:  </a:t>
            </a:r>
            <a:r>
              <a:rPr lang="es-ES" sz="1000" b="0" dirty="0">
                <a:solidFill>
                  <a:srgbClr val="CCCCCC"/>
                </a:solidFill>
              </a:rPr>
              <a:t>Sem 1: Backend listo (T1–T7)  ·  Sem 2: Frontend funcional (T8–T13)  ·  Sem 3: Integración FE–BE (T16)  ·  Sem 4: Despliegue (T18) + Defensa (T20)</a:t>
            </a:r>
          </a:p>
          <a:p>
            <a:pPr marL="0" indent="0" algn="ctr">
              <a:buNone/>
            </a:pPr>
            <a:r>
              <a:rPr lang="es-ES" sz="900" b="0" dirty="0">
                <a:solidFill>
                  <a:srgbClr val="7A8BA0"/>
                </a:solidFill>
              </a:rPr>
              <a:t>Barras rojas = camino crítico  ·  Barras azules = tareas con holgura  ·  20 tareas | 147 h-persona totales | 4 semanas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3D24D24-824B-F773-D393-98016E1E0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08" y="820000"/>
            <a:ext cx="5786988" cy="30742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C0A4B-6D99-68F3-A7F8-93D249112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CEAFAF5D-FD2E-DE8D-8B15-E9A301174C07}"/>
              </a:ext>
            </a:extLst>
          </p:cNvPr>
          <p:cNvSpPr/>
          <p:nvPr/>
        </p:nvSpPr>
        <p:spPr>
          <a:xfrm>
            <a:off x="457200" y="91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React + Vite</a:t>
            </a:r>
            <a:endParaRPr lang="en-US" sz="24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5CAE702-1D94-980E-BBDD-17DF563788F9}"/>
              </a:ext>
            </a:extLst>
          </p:cNvPr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3000 · SPA · React Router</a:t>
            </a:r>
            <a:endParaRPr lang="en-US" sz="11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B39A0109-72F8-BCE4-E084-A06B7F612C24}"/>
              </a:ext>
            </a:extLst>
          </p:cNvPr>
          <p:cNvSpPr/>
          <p:nvPr/>
        </p:nvSpPr>
        <p:spPr>
          <a:xfrm>
            <a:off x="45720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 globales</a:t>
            </a:r>
            <a:endParaRPr lang="en-US" sz="11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8E60B4A-679C-8EF7-CE3D-30893ED891B1}"/>
              </a:ext>
            </a:extLst>
          </p:cNvPr>
          <p:cNvSpPr/>
          <p:nvPr/>
        </p:nvSpPr>
        <p:spPr>
          <a:xfrm>
            <a:off x="457200" y="1280160"/>
            <a:ext cx="2606040" cy="658368"/>
          </a:xfrm>
          <a:prstGeom prst="rect">
            <a:avLst/>
          </a:prstGeom>
          <a:solidFill>
            <a:srgbClr val="534AB7">
              <a:alpha val="25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EA72D75D-6041-7C08-BB85-28B3C5450013}"/>
              </a:ext>
            </a:extLst>
          </p:cNvPr>
          <p:cNvSpPr/>
          <p:nvPr/>
        </p:nvSpPr>
        <p:spPr>
          <a:xfrm>
            <a:off x="457200" y="1353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AuthContext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DC921A6-FF7D-2285-34BB-DC0BC4DE7559}"/>
              </a:ext>
            </a:extLst>
          </p:cNvPr>
          <p:cNvSpPr/>
          <p:nvPr/>
        </p:nvSpPr>
        <p:spPr>
          <a:xfrm>
            <a:off x="457200" y="16459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login · logout</a:t>
            </a:r>
            <a:endParaRPr lang="en-US" sz="10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C6FC4BCB-64F0-1B12-C46B-C11275A94BA2}"/>
              </a:ext>
            </a:extLst>
          </p:cNvPr>
          <p:cNvSpPr/>
          <p:nvPr/>
        </p:nvSpPr>
        <p:spPr>
          <a:xfrm>
            <a:off x="3291840" y="1280160"/>
            <a:ext cx="2606040" cy="658368"/>
          </a:xfrm>
          <a:prstGeom prst="rect">
            <a:avLst/>
          </a:prstGeom>
          <a:solidFill>
            <a:srgbClr val="534AB7">
              <a:alpha val="25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686934F-54D0-AEC8-EF19-FE02480A3966}"/>
              </a:ext>
            </a:extLst>
          </p:cNvPr>
          <p:cNvSpPr/>
          <p:nvPr/>
        </p:nvSpPr>
        <p:spPr>
          <a:xfrm>
            <a:off x="3291840" y="1353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ThemeContext</a:t>
            </a:r>
            <a:endParaRPr lang="en-US" sz="12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8E29C84-D872-D818-9C18-35136FA38CE0}"/>
              </a:ext>
            </a:extLst>
          </p:cNvPr>
          <p:cNvSpPr/>
          <p:nvPr/>
        </p:nvSpPr>
        <p:spPr>
          <a:xfrm>
            <a:off x="3291840" y="16459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0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403BD7B8-6F97-8BFD-A702-6B4E60B732A3}"/>
              </a:ext>
            </a:extLst>
          </p:cNvPr>
          <p:cNvSpPr/>
          <p:nvPr/>
        </p:nvSpPr>
        <p:spPr>
          <a:xfrm>
            <a:off x="6126480" y="1280160"/>
            <a:ext cx="2606040" cy="658368"/>
          </a:xfrm>
          <a:prstGeom prst="rect">
            <a:avLst/>
          </a:prstGeom>
          <a:solidFill>
            <a:srgbClr val="534AB7">
              <a:alpha val="25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B28E255-C206-568B-F8CC-CABF8F95AD71}"/>
              </a:ext>
            </a:extLst>
          </p:cNvPr>
          <p:cNvSpPr/>
          <p:nvPr/>
        </p:nvSpPr>
        <p:spPr>
          <a:xfrm>
            <a:off x="6126480" y="13533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api/client · Axios</a:t>
            </a:r>
            <a:endParaRPr lang="en-US" sz="12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0CB7DE3-49CB-8D32-A610-B1DC5A5E49B3}"/>
              </a:ext>
            </a:extLst>
          </p:cNvPr>
          <p:cNvSpPr/>
          <p:nvPr/>
        </p:nvSpPr>
        <p:spPr>
          <a:xfrm>
            <a:off x="6126480" y="164592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interceptors · token refresh</a:t>
            </a:r>
            <a:endParaRPr lang="en-US" sz="10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08B0CAB-DD86-C3B1-D9ED-EC5B1592ED0D}"/>
              </a:ext>
            </a:extLst>
          </p:cNvPr>
          <p:cNvSpPr/>
          <p:nvPr/>
        </p:nvSpPr>
        <p:spPr>
          <a:xfrm>
            <a:off x="45720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(React Router)</a:t>
            </a:r>
            <a:endParaRPr lang="en-US" sz="1100" dirty="0"/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D778CAD1-0D44-EEC5-4732-6D6951FED922}"/>
              </a:ext>
            </a:extLst>
          </p:cNvPr>
          <p:cNvSpPr/>
          <p:nvPr/>
        </p:nvSpPr>
        <p:spPr>
          <a:xfrm>
            <a:off x="457200" y="2331720"/>
            <a:ext cx="1572768" cy="594360"/>
          </a:xfrm>
          <a:prstGeom prst="rect">
            <a:avLst/>
          </a:prstGeom>
          <a:solidFill>
            <a:srgbClr val="0F6E56">
              <a:alpha val="18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69D5BD37-44EF-FD50-0293-5E89CC4D02E8}"/>
              </a:ext>
            </a:extLst>
          </p:cNvPr>
          <p:cNvSpPr/>
          <p:nvPr/>
        </p:nvSpPr>
        <p:spPr>
          <a:xfrm>
            <a:off x="457200" y="2377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507090BE-B3FF-D8AB-6087-C91288B6B79B}"/>
              </a:ext>
            </a:extLst>
          </p:cNvPr>
          <p:cNvSpPr/>
          <p:nvPr/>
        </p:nvSpPr>
        <p:spPr>
          <a:xfrm>
            <a:off x="457200" y="263347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</a:t>
            </a:r>
            <a:endParaRPr lang="en-US" sz="900" dirty="0"/>
          </a:p>
        </p:txBody>
      </p:sp>
      <p:sp>
        <p:nvSpPr>
          <p:cNvPr id="18" name="Shape 17">
            <a:extLst>
              <a:ext uri="{FF2B5EF4-FFF2-40B4-BE49-F238E27FC236}">
                <a16:creationId xmlns:a16="http://schemas.microsoft.com/office/drawing/2014/main" id="{19FC4290-1DD2-7513-4D2B-8501FBCE571D}"/>
              </a:ext>
            </a:extLst>
          </p:cNvPr>
          <p:cNvSpPr/>
          <p:nvPr/>
        </p:nvSpPr>
        <p:spPr>
          <a:xfrm>
            <a:off x="2176272" y="2331720"/>
            <a:ext cx="1572768" cy="594360"/>
          </a:xfrm>
          <a:prstGeom prst="rect">
            <a:avLst/>
          </a:prstGeom>
          <a:solidFill>
            <a:srgbClr val="0F6E56">
              <a:alpha val="18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87FDF5B1-EB4D-3711-280F-71F5EF7D3602}"/>
              </a:ext>
            </a:extLst>
          </p:cNvPr>
          <p:cNvSpPr/>
          <p:nvPr/>
        </p:nvSpPr>
        <p:spPr>
          <a:xfrm>
            <a:off x="2176272" y="2377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2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367B2F5A-07BB-E5E8-7DBD-63C47CECE456}"/>
              </a:ext>
            </a:extLst>
          </p:cNvPr>
          <p:cNvSpPr/>
          <p:nvPr/>
        </p:nvSpPr>
        <p:spPr>
          <a:xfrm>
            <a:off x="2176272" y="263347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/registro</a:t>
            </a:r>
            <a:endParaRPr lang="en-US" sz="9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764FF69E-EE2C-7C3E-D055-37D5E3C13F28}"/>
              </a:ext>
            </a:extLst>
          </p:cNvPr>
          <p:cNvSpPr/>
          <p:nvPr/>
        </p:nvSpPr>
        <p:spPr>
          <a:xfrm>
            <a:off x="3895344" y="2331720"/>
            <a:ext cx="1572768" cy="594360"/>
          </a:xfrm>
          <a:prstGeom prst="rect">
            <a:avLst/>
          </a:prstGeom>
          <a:solidFill>
            <a:srgbClr val="0F6E56">
              <a:alpha val="18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5DC568AF-932C-326F-576F-1DBB8115C72E}"/>
              </a:ext>
            </a:extLst>
          </p:cNvPr>
          <p:cNvSpPr/>
          <p:nvPr/>
        </p:nvSpPr>
        <p:spPr>
          <a:xfrm>
            <a:off x="3895344" y="2377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0A43631-45C8-F2E8-53BB-7A5AE75008EE}"/>
              </a:ext>
            </a:extLst>
          </p:cNvPr>
          <p:cNvSpPr/>
          <p:nvPr/>
        </p:nvSpPr>
        <p:spPr>
          <a:xfrm>
            <a:off x="3895344" y="263347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/dashboard</a:t>
            </a:r>
            <a:endParaRPr lang="en-US" sz="9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2A4DB430-0A53-AE84-5248-E9121C59F33C}"/>
              </a:ext>
            </a:extLst>
          </p:cNvPr>
          <p:cNvSpPr/>
          <p:nvPr/>
        </p:nvSpPr>
        <p:spPr>
          <a:xfrm>
            <a:off x="5614416" y="2331720"/>
            <a:ext cx="1572768" cy="594360"/>
          </a:xfrm>
          <a:prstGeom prst="rect">
            <a:avLst/>
          </a:prstGeom>
          <a:solidFill>
            <a:srgbClr val="0F6E56">
              <a:alpha val="18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694CEED9-43D8-8CB6-6C64-1ABB151AA95F}"/>
              </a:ext>
            </a:extLst>
          </p:cNvPr>
          <p:cNvSpPr/>
          <p:nvPr/>
        </p:nvSpPr>
        <p:spPr>
          <a:xfrm>
            <a:off x="5614416" y="2377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Citas</a:t>
            </a:r>
            <a:endParaRPr lang="en-US" sz="12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2B5A7468-D070-DC98-7435-05C2138C1874}"/>
              </a:ext>
            </a:extLst>
          </p:cNvPr>
          <p:cNvSpPr/>
          <p:nvPr/>
        </p:nvSpPr>
        <p:spPr>
          <a:xfrm>
            <a:off x="5614416" y="263347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/citas</a:t>
            </a:r>
            <a:endParaRPr lang="en-US" sz="9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7C0577CE-EE29-E0A4-A6F2-B87FCC5EE024}"/>
              </a:ext>
            </a:extLst>
          </p:cNvPr>
          <p:cNvSpPr/>
          <p:nvPr/>
        </p:nvSpPr>
        <p:spPr>
          <a:xfrm>
            <a:off x="7333488" y="2331720"/>
            <a:ext cx="1572768" cy="594360"/>
          </a:xfrm>
          <a:prstGeom prst="rect">
            <a:avLst/>
          </a:prstGeom>
          <a:solidFill>
            <a:srgbClr val="0F6E56">
              <a:alpha val="18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4D02A30B-03EB-33EE-27B6-A54CA60B49CB}"/>
              </a:ext>
            </a:extLst>
          </p:cNvPr>
          <p:cNvSpPr/>
          <p:nvPr/>
        </p:nvSpPr>
        <p:spPr>
          <a:xfrm>
            <a:off x="7333488" y="23774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CF2D3959-82FF-E6B7-76F6-1D34F7600E50}"/>
              </a:ext>
            </a:extLst>
          </p:cNvPr>
          <p:cNvSpPr/>
          <p:nvPr/>
        </p:nvSpPr>
        <p:spPr>
          <a:xfrm>
            <a:off x="7333488" y="263347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</a:t>
            </a:r>
            <a:endParaRPr lang="en-US" sz="900" dirty="0"/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EC5F4BB5-3AE5-6375-CD46-155D9CB292CB}"/>
              </a:ext>
            </a:extLst>
          </p:cNvPr>
          <p:cNvSpPr/>
          <p:nvPr/>
        </p:nvSpPr>
        <p:spPr>
          <a:xfrm>
            <a:off x="45720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clave</a:t>
            </a:r>
            <a:endParaRPr lang="en-US" sz="1100" dirty="0"/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20A72415-969B-C0D5-D050-AC3A5E271F57}"/>
              </a:ext>
            </a:extLst>
          </p:cNvPr>
          <p:cNvSpPr/>
          <p:nvPr/>
        </p:nvSpPr>
        <p:spPr>
          <a:xfrm>
            <a:off x="457200" y="3337560"/>
            <a:ext cx="1572768" cy="594360"/>
          </a:xfrm>
          <a:prstGeom prst="rect">
            <a:avLst/>
          </a:prstGeom>
          <a:solidFill>
            <a:srgbClr val="534AB7">
              <a:alpha val="18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E697213B-F7E1-7EF4-1A7E-51EB3C636695}"/>
              </a:ext>
            </a:extLst>
          </p:cNvPr>
          <p:cNvSpPr/>
          <p:nvPr/>
        </p:nvSpPr>
        <p:spPr>
          <a:xfrm>
            <a:off x="457200" y="33832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BookingCalendar</a:t>
            </a:r>
            <a:endParaRPr lang="en-US" sz="1000" dirty="0"/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54CC3FE5-9346-7E0B-95DA-2A017A271197}"/>
              </a:ext>
            </a:extLst>
          </p:cNvPr>
          <p:cNvSpPr/>
          <p:nvPr/>
        </p:nvSpPr>
        <p:spPr>
          <a:xfrm>
            <a:off x="457200" y="3639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visuales</a:t>
            </a:r>
            <a:endParaRPr lang="en-US" sz="90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C3F562C8-B345-C3F4-79A1-CF02791D2791}"/>
              </a:ext>
            </a:extLst>
          </p:cNvPr>
          <p:cNvSpPr/>
          <p:nvPr/>
        </p:nvSpPr>
        <p:spPr>
          <a:xfrm>
            <a:off x="2176272" y="3337560"/>
            <a:ext cx="1572768" cy="594360"/>
          </a:xfrm>
          <a:prstGeom prst="rect">
            <a:avLst/>
          </a:prstGeom>
          <a:solidFill>
            <a:srgbClr val="534AB7">
              <a:alpha val="18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C9B6A2E3-ECBE-FBB9-8622-57E6BB87FD46}"/>
              </a:ext>
            </a:extLst>
          </p:cNvPr>
          <p:cNvSpPr/>
          <p:nvPr/>
        </p:nvSpPr>
        <p:spPr>
          <a:xfrm>
            <a:off x="2176272" y="33832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ServiceCard</a:t>
            </a:r>
            <a:endParaRPr lang="en-US" sz="1000" dirty="0"/>
          </a:p>
        </p:txBody>
      </p:sp>
      <p:sp>
        <p:nvSpPr>
          <p:cNvPr id="36" name="Text 35">
            <a:extLst>
              <a:ext uri="{FF2B5EF4-FFF2-40B4-BE49-F238E27FC236}">
                <a16:creationId xmlns:a16="http://schemas.microsoft.com/office/drawing/2014/main" id="{36B15D60-BAEA-B49E-D2B3-0CA109565DBA}"/>
              </a:ext>
            </a:extLst>
          </p:cNvPr>
          <p:cNvSpPr/>
          <p:nvPr/>
        </p:nvSpPr>
        <p:spPr>
          <a:xfrm>
            <a:off x="2176272" y="3639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900" dirty="0"/>
          </a:p>
        </p:txBody>
      </p:sp>
      <p:sp>
        <p:nvSpPr>
          <p:cNvPr id="37" name="Shape 36">
            <a:extLst>
              <a:ext uri="{FF2B5EF4-FFF2-40B4-BE49-F238E27FC236}">
                <a16:creationId xmlns:a16="http://schemas.microsoft.com/office/drawing/2014/main" id="{03BC151C-9CD7-F66E-5628-D2856403FF8B}"/>
              </a:ext>
            </a:extLst>
          </p:cNvPr>
          <p:cNvSpPr/>
          <p:nvPr/>
        </p:nvSpPr>
        <p:spPr>
          <a:xfrm>
            <a:off x="3895344" y="3337560"/>
            <a:ext cx="1572768" cy="594360"/>
          </a:xfrm>
          <a:prstGeom prst="rect">
            <a:avLst/>
          </a:prstGeom>
          <a:solidFill>
            <a:srgbClr val="534AB7">
              <a:alpha val="18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F9666AEF-70A4-AE8C-5DA9-D1544802D724}"/>
              </a:ext>
            </a:extLst>
          </p:cNvPr>
          <p:cNvSpPr/>
          <p:nvPr/>
        </p:nvSpPr>
        <p:spPr>
          <a:xfrm>
            <a:off x="3895344" y="33832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AppointmentForm</a:t>
            </a:r>
            <a:endParaRPr lang="en-US" sz="1000" dirty="0"/>
          </a:p>
        </p:txBody>
      </p:sp>
      <p:sp>
        <p:nvSpPr>
          <p:cNvPr id="39" name="Text 38">
            <a:extLst>
              <a:ext uri="{FF2B5EF4-FFF2-40B4-BE49-F238E27FC236}">
                <a16:creationId xmlns:a16="http://schemas.microsoft.com/office/drawing/2014/main" id="{88F441B2-9E93-C6CF-0ABC-1E157E67BCFC}"/>
              </a:ext>
            </a:extLst>
          </p:cNvPr>
          <p:cNvSpPr/>
          <p:nvPr/>
        </p:nvSpPr>
        <p:spPr>
          <a:xfrm>
            <a:off x="3895344" y="3639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cita</a:t>
            </a:r>
            <a:endParaRPr lang="en-US" sz="900" dirty="0"/>
          </a:p>
        </p:txBody>
      </p:sp>
      <p:sp>
        <p:nvSpPr>
          <p:cNvPr id="40" name="Shape 39">
            <a:extLst>
              <a:ext uri="{FF2B5EF4-FFF2-40B4-BE49-F238E27FC236}">
                <a16:creationId xmlns:a16="http://schemas.microsoft.com/office/drawing/2014/main" id="{EDB008EA-9BA9-6C1C-CBD4-8A42518BCF5A}"/>
              </a:ext>
            </a:extLst>
          </p:cNvPr>
          <p:cNvSpPr/>
          <p:nvPr/>
        </p:nvSpPr>
        <p:spPr>
          <a:xfrm>
            <a:off x="5614416" y="3337560"/>
            <a:ext cx="1572768" cy="594360"/>
          </a:xfrm>
          <a:prstGeom prst="rect">
            <a:avLst/>
          </a:prstGeom>
          <a:solidFill>
            <a:srgbClr val="534AB7">
              <a:alpha val="18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F68DC0F8-3AC5-4B4D-CCA7-14CF36A838A6}"/>
              </a:ext>
            </a:extLst>
          </p:cNvPr>
          <p:cNvSpPr/>
          <p:nvPr/>
        </p:nvSpPr>
        <p:spPr>
          <a:xfrm>
            <a:off x="5614416" y="33832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000" dirty="0"/>
          </a:p>
        </p:txBody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4109A915-20D4-B7B2-FED0-3D8D41657F3A}"/>
              </a:ext>
            </a:extLst>
          </p:cNvPr>
          <p:cNvSpPr/>
          <p:nvPr/>
        </p:nvSpPr>
        <p:spPr>
          <a:xfrm>
            <a:off x="5614416" y="3639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900" dirty="0"/>
          </a:p>
        </p:txBody>
      </p:sp>
      <p:sp>
        <p:nvSpPr>
          <p:cNvPr id="43" name="Shape 42">
            <a:extLst>
              <a:ext uri="{FF2B5EF4-FFF2-40B4-BE49-F238E27FC236}">
                <a16:creationId xmlns:a16="http://schemas.microsoft.com/office/drawing/2014/main" id="{9A2435C3-C2E2-F351-9358-64FA00106CAD}"/>
              </a:ext>
            </a:extLst>
          </p:cNvPr>
          <p:cNvSpPr/>
          <p:nvPr/>
        </p:nvSpPr>
        <p:spPr>
          <a:xfrm>
            <a:off x="7333488" y="3337560"/>
            <a:ext cx="1572768" cy="594360"/>
          </a:xfrm>
          <a:prstGeom prst="rect">
            <a:avLst/>
          </a:prstGeom>
          <a:solidFill>
            <a:srgbClr val="534AB7">
              <a:alpha val="18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F26A41B7-8D2E-5C46-D220-18F16D90B3B4}"/>
              </a:ext>
            </a:extLst>
          </p:cNvPr>
          <p:cNvSpPr/>
          <p:nvPr/>
        </p:nvSpPr>
        <p:spPr>
          <a:xfrm>
            <a:off x="7333488" y="338328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StatsWidget</a:t>
            </a:r>
            <a:endParaRPr lang="en-US" sz="1000" dirty="0"/>
          </a:p>
        </p:txBody>
      </p:sp>
      <p:sp>
        <p:nvSpPr>
          <p:cNvPr id="45" name="Text 44">
            <a:extLst>
              <a:ext uri="{FF2B5EF4-FFF2-40B4-BE49-F238E27FC236}">
                <a16:creationId xmlns:a16="http://schemas.microsoft.com/office/drawing/2014/main" id="{F8C20AD8-4570-DFA2-6ACA-0E041D29872D}"/>
              </a:ext>
            </a:extLst>
          </p:cNvPr>
          <p:cNvSpPr/>
          <p:nvPr/>
        </p:nvSpPr>
        <p:spPr>
          <a:xfrm>
            <a:off x="7333488" y="3639312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6" name="Shape 45">
            <a:extLst>
              <a:ext uri="{FF2B5EF4-FFF2-40B4-BE49-F238E27FC236}">
                <a16:creationId xmlns:a16="http://schemas.microsoft.com/office/drawing/2014/main" id="{121C2521-3BC2-177D-DB37-4CDC07805F74}"/>
              </a:ext>
            </a:extLst>
          </p:cNvPr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534AB7">
              <a:alpha val="8000"/>
            </a:srgbClr>
          </a:solidFill>
          <a:ln w="635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6">
            <a:extLst>
              <a:ext uri="{FF2B5EF4-FFF2-40B4-BE49-F238E27FC236}">
                <a16:creationId xmlns:a16="http://schemas.microsoft.com/office/drawing/2014/main" id="{61A2F747-5031-C93C-80E9-20F5E5E73A0D}"/>
              </a:ext>
            </a:extLst>
          </p:cNvPr>
          <p:cNvSpPr/>
          <p:nvPr/>
        </p:nvSpPr>
        <p:spPr>
          <a:xfrm>
            <a:off x="64008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ProtectedRoute</a:t>
            </a:r>
            <a:endParaRPr lang="en-US" sz="1200" dirty="0"/>
          </a:p>
        </p:txBody>
      </p:sp>
      <p:sp>
        <p:nvSpPr>
          <p:cNvPr id="48" name="Text 47">
            <a:extLst>
              <a:ext uri="{FF2B5EF4-FFF2-40B4-BE49-F238E27FC236}">
                <a16:creationId xmlns:a16="http://schemas.microsoft.com/office/drawing/2014/main" id="{4590FB2E-97A2-FD22-683A-E325D4AD69F2}"/>
              </a:ext>
            </a:extLst>
          </p:cNvPr>
          <p:cNvSpPr/>
          <p:nvPr/>
        </p:nvSpPr>
        <p:spPr>
          <a:xfrm>
            <a:off x="64008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sesión y rol (cliente · empleado · admin) antes de renderizar cualquier página protegida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6989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quitectura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A5C1D667-4556-7E88-3A16-22501BCAFE5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6E56">
              <a:alpha val="15000"/>
            </a:srgbClr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5CE409B-1170-E19C-DEA7-7669F11BCE5A}"/>
              </a:ext>
            </a:extLst>
          </p:cNvPr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Express + Helmet + CORS</a:t>
            </a:r>
            <a:endParaRPr lang="en-US" sz="2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851D2E5-C326-C591-5FA3-688EF7B4DAF4}"/>
              </a:ext>
            </a:extLst>
          </p:cNvPr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3001 · Node.js · REST API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4FB708A-8998-1E93-D6FB-F24332A9E60B}"/>
              </a:ext>
            </a:extLst>
          </p:cNvPr>
          <p:cNvSpPr/>
          <p:nvPr/>
        </p:nvSpPr>
        <p:spPr>
          <a:xfrm>
            <a:off x="457200" y="987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entrada</a:t>
            </a:r>
            <a:endParaRPr lang="en-US" sz="11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6542623-C259-5FE1-B85A-0DAA5DDFAC44}"/>
              </a:ext>
            </a:extLst>
          </p:cNvPr>
          <p:cNvSpPr/>
          <p:nvPr/>
        </p:nvSpPr>
        <p:spPr>
          <a:xfrm>
            <a:off x="45720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FEBFD84F-F09B-C60F-8641-09822F8B4FC5}"/>
              </a:ext>
            </a:extLst>
          </p:cNvPr>
          <p:cNvSpPr/>
          <p:nvPr/>
        </p:nvSpPr>
        <p:spPr>
          <a:xfrm>
            <a:off x="45720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05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EA38DFB-59D6-91FF-3EC1-5E55B35FB6D3}"/>
              </a:ext>
            </a:extLst>
          </p:cNvPr>
          <p:cNvSpPr/>
          <p:nvPr/>
        </p:nvSpPr>
        <p:spPr>
          <a:xfrm>
            <a:off x="45720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 / 15 min</a:t>
            </a:r>
            <a:endParaRPr lang="en-US" sz="9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E38D9FE2-5280-5B9F-A148-BC9474B30C3C}"/>
              </a:ext>
            </a:extLst>
          </p:cNvPr>
          <p:cNvSpPr/>
          <p:nvPr/>
        </p:nvSpPr>
        <p:spPr>
          <a:xfrm>
            <a:off x="214884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4DEDED3-19C3-640B-475C-BA8690948ADE}"/>
              </a:ext>
            </a:extLst>
          </p:cNvPr>
          <p:cNvSpPr/>
          <p:nvPr/>
        </p:nvSpPr>
        <p:spPr>
          <a:xfrm>
            <a:off x="214884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05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6B7C07E9-837F-795A-459E-76AAFBA31E02}"/>
              </a:ext>
            </a:extLst>
          </p:cNvPr>
          <p:cNvSpPr/>
          <p:nvPr/>
        </p:nvSpPr>
        <p:spPr>
          <a:xfrm>
            <a:off x="214884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security headers</a:t>
            </a:r>
            <a:endParaRPr lang="en-US" sz="9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3FD933B5-A7B0-02F6-A85E-6778F478FD77}"/>
              </a:ext>
            </a:extLst>
          </p:cNvPr>
          <p:cNvSpPr/>
          <p:nvPr/>
        </p:nvSpPr>
        <p:spPr>
          <a:xfrm>
            <a:off x="384048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E7F5F4F-C4BE-A890-C801-9713B5618A17}"/>
              </a:ext>
            </a:extLst>
          </p:cNvPr>
          <p:cNvSpPr/>
          <p:nvPr/>
        </p:nvSpPr>
        <p:spPr>
          <a:xfrm>
            <a:off x="384048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0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EF03FE73-4CDE-BF7F-A5AD-D3EE09FC379E}"/>
              </a:ext>
            </a:extLst>
          </p:cNvPr>
          <p:cNvSpPr/>
          <p:nvPr/>
        </p:nvSpPr>
        <p:spPr>
          <a:xfrm>
            <a:off x="384048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AC060D76-32E5-28B5-C02A-20D94379DFC7}"/>
              </a:ext>
            </a:extLst>
          </p:cNvPr>
          <p:cNvSpPr/>
          <p:nvPr/>
        </p:nvSpPr>
        <p:spPr>
          <a:xfrm>
            <a:off x="553212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5713A8F8-66A8-6203-8084-50ED4F4F7461}"/>
              </a:ext>
            </a:extLst>
          </p:cNvPr>
          <p:cNvSpPr/>
          <p:nvPr/>
        </p:nvSpPr>
        <p:spPr>
          <a:xfrm>
            <a:off x="553212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</a:t>
            </a:r>
            <a:endParaRPr lang="en-US" sz="105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175CDC65-0108-2192-DD16-B5BF346C1BC3}"/>
              </a:ext>
            </a:extLst>
          </p:cNvPr>
          <p:cNvSpPr/>
          <p:nvPr/>
        </p:nvSpPr>
        <p:spPr>
          <a:xfrm>
            <a:off x="553212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verify</a:t>
            </a:r>
            <a:endParaRPr lang="en-US" sz="900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1CD7AF30-1567-00BE-C7D2-F972227AFCF2}"/>
              </a:ext>
            </a:extLst>
          </p:cNvPr>
          <p:cNvSpPr/>
          <p:nvPr/>
        </p:nvSpPr>
        <p:spPr>
          <a:xfrm>
            <a:off x="722376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FCFBBFDF-3A9C-1D7A-BFDB-218A04C47C64}"/>
              </a:ext>
            </a:extLst>
          </p:cNvPr>
          <p:cNvSpPr/>
          <p:nvPr/>
        </p:nvSpPr>
        <p:spPr>
          <a:xfrm>
            <a:off x="722376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</a:t>
            </a:r>
            <a:endParaRPr lang="en-US" sz="105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C2C939E1-8437-4E30-6499-C3753F0FF468}"/>
              </a:ext>
            </a:extLst>
          </p:cNvPr>
          <p:cNvSpPr/>
          <p:nvPr/>
        </p:nvSpPr>
        <p:spPr>
          <a:xfrm>
            <a:off x="722376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DBDE2CF1-21C8-581A-AB54-6C0B0BA0D8D7}"/>
              </a:ext>
            </a:extLst>
          </p:cNvPr>
          <p:cNvSpPr/>
          <p:nvPr/>
        </p:nvSpPr>
        <p:spPr>
          <a:xfrm>
            <a:off x="457200" y="1993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API (/api/…)</a:t>
            </a:r>
            <a:endParaRPr lang="en-US" sz="1100" dirty="0"/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DE151639-C90E-AF7C-0162-7E9689C816AB}"/>
              </a:ext>
            </a:extLst>
          </p:cNvPr>
          <p:cNvSpPr/>
          <p:nvPr/>
        </p:nvSpPr>
        <p:spPr>
          <a:xfrm>
            <a:off x="45720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206FC24B-0D97-555D-926B-108FE5EEF2BA}"/>
              </a:ext>
            </a:extLst>
          </p:cNvPr>
          <p:cNvSpPr/>
          <p:nvPr/>
        </p:nvSpPr>
        <p:spPr>
          <a:xfrm>
            <a:off x="45720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9FF5A30A-DDA4-5541-83C0-7F836BE6E991}"/>
              </a:ext>
            </a:extLst>
          </p:cNvPr>
          <p:cNvSpPr/>
          <p:nvPr/>
        </p:nvSpPr>
        <p:spPr>
          <a:xfrm>
            <a:off x="45720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registro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· logout</a:t>
            </a:r>
            <a:endParaRPr lang="en-US" sz="90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5FE91FF9-EEC0-60A1-A3E3-73A4049DC1A0}"/>
              </a:ext>
            </a:extLst>
          </p:cNvPr>
          <p:cNvSpPr/>
          <p:nvPr/>
        </p:nvSpPr>
        <p:spPr>
          <a:xfrm>
            <a:off x="260604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C7B0958F-3D17-86A5-EE58-445D142581A8}"/>
              </a:ext>
            </a:extLst>
          </p:cNvPr>
          <p:cNvSpPr/>
          <p:nvPr/>
        </p:nvSpPr>
        <p:spPr>
          <a:xfrm>
            <a:off x="260604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13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A78A9062-4BFF-B08E-ADE7-04FC506D0A48}"/>
              </a:ext>
            </a:extLst>
          </p:cNvPr>
          <p:cNvSpPr/>
          <p:nvPr/>
        </p:nvSpPr>
        <p:spPr>
          <a:xfrm>
            <a:off x="260604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slots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endParaRPr lang="en-US" sz="900" dirty="0"/>
          </a:p>
        </p:txBody>
      </p:sp>
      <p:sp>
        <p:nvSpPr>
          <p:cNvPr id="34" name="Shape 26">
            <a:extLst>
              <a:ext uri="{FF2B5EF4-FFF2-40B4-BE49-F238E27FC236}">
                <a16:creationId xmlns:a16="http://schemas.microsoft.com/office/drawing/2014/main" id="{40AE66FC-B5E6-F05E-1CDB-35AD14BDEC78}"/>
              </a:ext>
            </a:extLst>
          </p:cNvPr>
          <p:cNvSpPr/>
          <p:nvPr/>
        </p:nvSpPr>
        <p:spPr>
          <a:xfrm>
            <a:off x="475488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D6DCE4B1-E44F-599C-FCE5-D58945F291F6}"/>
              </a:ext>
            </a:extLst>
          </p:cNvPr>
          <p:cNvSpPr/>
          <p:nvPr/>
        </p:nvSpPr>
        <p:spPr>
          <a:xfrm>
            <a:off x="475488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7485BA2A-4648-2D2C-DF22-7394E0051CDB}"/>
              </a:ext>
            </a:extLst>
          </p:cNvPr>
          <p:cNvSpPr/>
          <p:nvPr/>
        </p:nvSpPr>
        <p:spPr>
          <a:xfrm>
            <a:off x="475488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· editar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900" dirty="0"/>
          </a:p>
        </p:txBody>
      </p:sp>
      <p:sp>
        <p:nvSpPr>
          <p:cNvPr id="37" name="Shape 29">
            <a:extLst>
              <a:ext uri="{FF2B5EF4-FFF2-40B4-BE49-F238E27FC236}">
                <a16:creationId xmlns:a16="http://schemas.microsoft.com/office/drawing/2014/main" id="{ABFD5918-886B-3164-8DD5-9D4079BD0750}"/>
              </a:ext>
            </a:extLst>
          </p:cNvPr>
          <p:cNvSpPr/>
          <p:nvPr/>
        </p:nvSpPr>
        <p:spPr>
          <a:xfrm>
            <a:off x="690372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0">
            <a:extLst>
              <a:ext uri="{FF2B5EF4-FFF2-40B4-BE49-F238E27FC236}">
                <a16:creationId xmlns:a16="http://schemas.microsoft.com/office/drawing/2014/main" id="{1FC82AA6-5B8A-162D-4CF2-8B975B486D58}"/>
              </a:ext>
            </a:extLst>
          </p:cNvPr>
          <p:cNvSpPr/>
          <p:nvPr/>
        </p:nvSpPr>
        <p:spPr>
          <a:xfrm>
            <a:off x="690372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130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E0D45D2D-D432-1A28-CCF8-B8AE3F9C4B6F}"/>
              </a:ext>
            </a:extLst>
          </p:cNvPr>
          <p:cNvSpPr/>
          <p:nvPr/>
        </p:nvSpPr>
        <p:spPr>
          <a:xfrm>
            <a:off x="690372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900" dirty="0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533BB6D9-5D86-C71C-1F90-516B563A833C}"/>
              </a:ext>
            </a:extLst>
          </p:cNvPr>
          <p:cNvSpPr/>
          <p:nvPr/>
        </p:nvSpPr>
        <p:spPr>
          <a:xfrm>
            <a:off x="457200" y="313639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A77F04E-5E88-B172-FFCE-EC2052CD3DA2}"/>
              </a:ext>
            </a:extLst>
          </p:cNvPr>
          <p:cNvSpPr/>
          <p:nvPr/>
        </p:nvSpPr>
        <p:spPr>
          <a:xfrm>
            <a:off x="457200" y="31912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300" dirty="0"/>
          </a:p>
        </p:txBody>
      </p:sp>
      <p:sp>
        <p:nvSpPr>
          <p:cNvPr id="42" name="Text 34">
            <a:extLst>
              <a:ext uri="{FF2B5EF4-FFF2-40B4-BE49-F238E27FC236}">
                <a16:creationId xmlns:a16="http://schemas.microsoft.com/office/drawing/2014/main" id="{D73BA6B9-537C-9573-B1DC-28A45A78EA15}"/>
              </a:ext>
            </a:extLst>
          </p:cNvPr>
          <p:cNvSpPr/>
          <p:nvPr/>
        </p:nvSpPr>
        <p:spPr>
          <a:xfrm>
            <a:off x="457200" y="34655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90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0A5A70A9-D447-B01F-A172-B7252B51BFF7}"/>
              </a:ext>
            </a:extLst>
          </p:cNvPr>
          <p:cNvSpPr/>
          <p:nvPr/>
        </p:nvSpPr>
        <p:spPr>
          <a:xfrm>
            <a:off x="2606040" y="313639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FB08BB21-0A1E-59CE-B489-7272ED7CB5CF}"/>
              </a:ext>
            </a:extLst>
          </p:cNvPr>
          <p:cNvSpPr/>
          <p:nvPr/>
        </p:nvSpPr>
        <p:spPr>
          <a:xfrm>
            <a:off x="2606040" y="31912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45" name="Text 37">
            <a:extLst>
              <a:ext uri="{FF2B5EF4-FFF2-40B4-BE49-F238E27FC236}">
                <a16:creationId xmlns:a16="http://schemas.microsoft.com/office/drawing/2014/main" id="{BED6B10F-A003-8A2F-27BF-9CAA501B3E6F}"/>
              </a:ext>
            </a:extLst>
          </p:cNvPr>
          <p:cNvSpPr/>
          <p:nvPr/>
        </p:nvSpPr>
        <p:spPr>
          <a:xfrm>
            <a:off x="2606040" y="34655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900" dirty="0"/>
          </a:p>
        </p:txBody>
      </p:sp>
      <p:sp>
        <p:nvSpPr>
          <p:cNvPr id="46" name="Shape 38">
            <a:extLst>
              <a:ext uri="{FF2B5EF4-FFF2-40B4-BE49-F238E27FC236}">
                <a16:creationId xmlns:a16="http://schemas.microsoft.com/office/drawing/2014/main" id="{B3A7ADAA-49AE-F044-BBCE-790218BFA3E3}"/>
              </a:ext>
            </a:extLst>
          </p:cNvPr>
          <p:cNvSpPr/>
          <p:nvPr/>
        </p:nvSpPr>
        <p:spPr>
          <a:xfrm>
            <a:off x="4754880" y="313639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C0D46A3D-D916-8D83-7EED-78B4C0D3BF50}"/>
              </a:ext>
            </a:extLst>
          </p:cNvPr>
          <p:cNvSpPr/>
          <p:nvPr/>
        </p:nvSpPr>
        <p:spPr>
          <a:xfrm>
            <a:off x="4754880" y="31912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32C64173-4EA7-12E7-1B7C-ED2127ED0D76}"/>
              </a:ext>
            </a:extLst>
          </p:cNvPr>
          <p:cNvSpPr/>
          <p:nvPr/>
        </p:nvSpPr>
        <p:spPr>
          <a:xfrm>
            <a:off x="4754880" y="34655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3459B-1E0D-78F1-0C46-8ED23D02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BAA94F4-3610-CC97-F567-8064614C7BD3}"/>
              </a:ext>
            </a:extLst>
          </p:cNvPr>
          <p:cNvSpPr/>
          <p:nvPr/>
        </p:nvSpPr>
        <p:spPr>
          <a:xfrm>
            <a:off x="45720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Express + Helmet + CORS</a:t>
            </a:r>
            <a:endParaRPr lang="en-US" sz="22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C56BC46D-4DAF-8991-C0F4-6287E272267F}"/>
              </a:ext>
            </a:extLst>
          </p:cNvPr>
          <p:cNvSpPr/>
          <p:nvPr/>
        </p:nvSpPr>
        <p:spPr>
          <a:xfrm>
            <a:off x="457200" y="512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3001 · Node.js · REST API</a:t>
            </a:r>
            <a:endParaRPr lang="en-US" sz="11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A375D89-8B3C-6A38-7FC1-127D5A270ED3}"/>
              </a:ext>
            </a:extLst>
          </p:cNvPr>
          <p:cNvSpPr/>
          <p:nvPr/>
        </p:nvSpPr>
        <p:spPr>
          <a:xfrm>
            <a:off x="457200" y="9875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de entrada</a:t>
            </a:r>
            <a:endParaRPr lang="en-US" sz="11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317E3B4-5BB9-C8FE-DAA3-339A38A2C3D7}"/>
              </a:ext>
            </a:extLst>
          </p:cNvPr>
          <p:cNvSpPr/>
          <p:nvPr/>
        </p:nvSpPr>
        <p:spPr>
          <a:xfrm>
            <a:off x="45720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543304B-326B-0735-0DC3-7844B85AACBD}"/>
              </a:ext>
            </a:extLst>
          </p:cNvPr>
          <p:cNvSpPr/>
          <p:nvPr/>
        </p:nvSpPr>
        <p:spPr>
          <a:xfrm>
            <a:off x="45720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05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6243E39-888B-4B88-06DF-DFC8421745DA}"/>
              </a:ext>
            </a:extLst>
          </p:cNvPr>
          <p:cNvSpPr/>
          <p:nvPr/>
        </p:nvSpPr>
        <p:spPr>
          <a:xfrm>
            <a:off x="45720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 / 15 min</a:t>
            </a:r>
            <a:endParaRPr lang="en-US" sz="9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D9A511BB-99AB-0C17-05D3-449F0B3B2564}"/>
              </a:ext>
            </a:extLst>
          </p:cNvPr>
          <p:cNvSpPr/>
          <p:nvPr/>
        </p:nvSpPr>
        <p:spPr>
          <a:xfrm>
            <a:off x="214884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CCAD9C5-7B99-0E5C-C87F-F2B260088B4B}"/>
              </a:ext>
            </a:extLst>
          </p:cNvPr>
          <p:cNvSpPr/>
          <p:nvPr/>
        </p:nvSpPr>
        <p:spPr>
          <a:xfrm>
            <a:off x="214884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0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BE8D6874-9D27-B880-7F63-A6760AD23955}"/>
              </a:ext>
            </a:extLst>
          </p:cNvPr>
          <p:cNvSpPr/>
          <p:nvPr/>
        </p:nvSpPr>
        <p:spPr>
          <a:xfrm>
            <a:off x="214884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security headers</a:t>
            </a:r>
            <a:endParaRPr lang="en-US" sz="9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DB1ECC72-3A4B-C9BE-0594-1B28E8B9A5EE}"/>
              </a:ext>
            </a:extLst>
          </p:cNvPr>
          <p:cNvSpPr/>
          <p:nvPr/>
        </p:nvSpPr>
        <p:spPr>
          <a:xfrm>
            <a:off x="384048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B6EFD65-5481-9508-181A-8D79B8699EC8}"/>
              </a:ext>
            </a:extLst>
          </p:cNvPr>
          <p:cNvSpPr/>
          <p:nvPr/>
        </p:nvSpPr>
        <p:spPr>
          <a:xfrm>
            <a:off x="384048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05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CE830EE8-3FA2-7BA9-A64D-1532D3DB686E}"/>
              </a:ext>
            </a:extLst>
          </p:cNvPr>
          <p:cNvSpPr/>
          <p:nvPr/>
        </p:nvSpPr>
        <p:spPr>
          <a:xfrm>
            <a:off x="384048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</a:t>
            </a:r>
            <a:endParaRPr lang="en-US" sz="9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F587C453-B166-9FBD-439B-7EF793700EC8}"/>
              </a:ext>
            </a:extLst>
          </p:cNvPr>
          <p:cNvSpPr/>
          <p:nvPr/>
        </p:nvSpPr>
        <p:spPr>
          <a:xfrm>
            <a:off x="553212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744779F1-A62C-ED60-6DB5-FFAE9D11EB34}"/>
              </a:ext>
            </a:extLst>
          </p:cNvPr>
          <p:cNvSpPr/>
          <p:nvPr/>
        </p:nvSpPr>
        <p:spPr>
          <a:xfrm>
            <a:off x="553212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</a:t>
            </a:r>
            <a:endParaRPr lang="en-US" sz="105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524F9D5-2566-14AB-791F-DC5E0253ECAD}"/>
              </a:ext>
            </a:extLst>
          </p:cNvPr>
          <p:cNvSpPr/>
          <p:nvPr/>
        </p:nvSpPr>
        <p:spPr>
          <a:xfrm>
            <a:off x="553212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verify</a:t>
            </a:r>
            <a:endParaRPr lang="en-US" sz="9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2754D539-482B-6E01-2DA1-AC6F4B463FCE}"/>
              </a:ext>
            </a:extLst>
          </p:cNvPr>
          <p:cNvSpPr/>
          <p:nvPr/>
        </p:nvSpPr>
        <p:spPr>
          <a:xfrm>
            <a:off x="7223760" y="1261872"/>
            <a:ext cx="1536192" cy="594360"/>
          </a:xfrm>
          <a:prstGeom prst="rect">
            <a:avLst/>
          </a:prstGeom>
          <a:solidFill>
            <a:srgbClr val="0F6E56">
              <a:alpha val="20000"/>
            </a:srgbClr>
          </a:solidFill>
          <a:ln w="635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1185A08D-4F70-42D0-36A0-DC55C0F16FCE}"/>
              </a:ext>
            </a:extLst>
          </p:cNvPr>
          <p:cNvSpPr/>
          <p:nvPr/>
        </p:nvSpPr>
        <p:spPr>
          <a:xfrm>
            <a:off x="7223760" y="1307592"/>
            <a:ext cx="1536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</a:t>
            </a:r>
            <a:endParaRPr lang="en-US" sz="105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66AF0ADE-D7AF-7E22-A78D-1FEEA2CB3CC6}"/>
              </a:ext>
            </a:extLst>
          </p:cNvPr>
          <p:cNvSpPr/>
          <p:nvPr/>
        </p:nvSpPr>
        <p:spPr>
          <a:xfrm>
            <a:off x="7223760" y="1572768"/>
            <a:ext cx="15361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522D8AED-6ACA-97C2-0575-59DEC7F544E4}"/>
              </a:ext>
            </a:extLst>
          </p:cNvPr>
          <p:cNvSpPr/>
          <p:nvPr/>
        </p:nvSpPr>
        <p:spPr>
          <a:xfrm>
            <a:off x="457200" y="1993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API (/api/…)</a:t>
            </a:r>
            <a:endParaRPr lang="en-US" sz="11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3A93D65C-933D-2AEE-9E1B-24DAC6101FCC}"/>
              </a:ext>
            </a:extLst>
          </p:cNvPr>
          <p:cNvSpPr/>
          <p:nvPr/>
        </p:nvSpPr>
        <p:spPr>
          <a:xfrm>
            <a:off x="45720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9D38CF2-CCDB-E132-1810-CD49438C0459}"/>
              </a:ext>
            </a:extLst>
          </p:cNvPr>
          <p:cNvSpPr/>
          <p:nvPr/>
        </p:nvSpPr>
        <p:spPr>
          <a:xfrm>
            <a:off x="45720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F8EE10E-50BE-60C3-28A7-C143234B4A01}"/>
              </a:ext>
            </a:extLst>
          </p:cNvPr>
          <p:cNvSpPr/>
          <p:nvPr/>
        </p:nvSpPr>
        <p:spPr>
          <a:xfrm>
            <a:off x="45720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registro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· logout</a:t>
            </a:r>
            <a:endParaRPr lang="en-US" sz="900" dirty="0"/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6E4D317A-BE03-1859-1ADF-8C34019C9EE0}"/>
              </a:ext>
            </a:extLst>
          </p:cNvPr>
          <p:cNvSpPr/>
          <p:nvPr/>
        </p:nvSpPr>
        <p:spPr>
          <a:xfrm>
            <a:off x="260604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FE546E96-265A-AE0C-93A2-6C04AE302694}"/>
              </a:ext>
            </a:extLst>
          </p:cNvPr>
          <p:cNvSpPr/>
          <p:nvPr/>
        </p:nvSpPr>
        <p:spPr>
          <a:xfrm>
            <a:off x="260604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13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C9DEECE0-4381-7F16-0C14-15CB48FAEE10}"/>
              </a:ext>
            </a:extLst>
          </p:cNvPr>
          <p:cNvSpPr/>
          <p:nvPr/>
        </p:nvSpPr>
        <p:spPr>
          <a:xfrm>
            <a:off x="260604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slots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endParaRPr lang="en-US" sz="9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6CD4EF31-0780-3E67-C0C1-B8D2E4E9FEA1}"/>
              </a:ext>
            </a:extLst>
          </p:cNvPr>
          <p:cNvSpPr/>
          <p:nvPr/>
        </p:nvSpPr>
        <p:spPr>
          <a:xfrm>
            <a:off x="475488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8EA9F6E1-D0E3-A18B-2BDF-B6AD50AB0B7D}"/>
              </a:ext>
            </a:extLst>
          </p:cNvPr>
          <p:cNvSpPr/>
          <p:nvPr/>
        </p:nvSpPr>
        <p:spPr>
          <a:xfrm>
            <a:off x="475488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300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FDFACCF7-1870-9F93-F51A-9AB9BCBDAA6E}"/>
              </a:ext>
            </a:extLst>
          </p:cNvPr>
          <p:cNvSpPr/>
          <p:nvPr/>
        </p:nvSpPr>
        <p:spPr>
          <a:xfrm>
            <a:off x="475488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· editar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</a:t>
            </a:r>
            <a:endParaRPr lang="en-US" sz="900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A8594980-3C43-92C0-6905-95185C25C28F}"/>
              </a:ext>
            </a:extLst>
          </p:cNvPr>
          <p:cNvSpPr/>
          <p:nvPr/>
        </p:nvSpPr>
        <p:spPr>
          <a:xfrm>
            <a:off x="6903720" y="226771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61125D58-5FC5-7B94-D82E-5EE89ACF37DC}"/>
              </a:ext>
            </a:extLst>
          </p:cNvPr>
          <p:cNvSpPr/>
          <p:nvPr/>
        </p:nvSpPr>
        <p:spPr>
          <a:xfrm>
            <a:off x="6903720" y="232257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1300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E5A54EED-DCEE-E874-5359-E9362250178D}"/>
              </a:ext>
            </a:extLst>
          </p:cNvPr>
          <p:cNvSpPr/>
          <p:nvPr/>
        </p:nvSpPr>
        <p:spPr>
          <a:xfrm>
            <a:off x="6903720" y="259689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900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72276CCE-5887-1FEE-9BD9-5FB613FF9A13}"/>
              </a:ext>
            </a:extLst>
          </p:cNvPr>
          <p:cNvSpPr/>
          <p:nvPr/>
        </p:nvSpPr>
        <p:spPr>
          <a:xfrm>
            <a:off x="457200" y="313639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811F5D1A-9958-5203-614B-EF4CCFD6BD70}"/>
              </a:ext>
            </a:extLst>
          </p:cNvPr>
          <p:cNvSpPr/>
          <p:nvPr/>
        </p:nvSpPr>
        <p:spPr>
          <a:xfrm>
            <a:off x="457200" y="31912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</a:t>
            </a:r>
            <a:endParaRPr lang="en-US" sz="1300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39B56B90-142D-E271-9924-1B743D26E389}"/>
              </a:ext>
            </a:extLst>
          </p:cNvPr>
          <p:cNvSpPr/>
          <p:nvPr/>
        </p:nvSpPr>
        <p:spPr>
          <a:xfrm>
            <a:off x="457200" y="34655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endParaRPr lang="en-US" sz="900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2E55685E-028E-B080-E476-08D757C382E6}"/>
              </a:ext>
            </a:extLst>
          </p:cNvPr>
          <p:cNvSpPr/>
          <p:nvPr/>
        </p:nvSpPr>
        <p:spPr>
          <a:xfrm>
            <a:off x="2606040" y="313639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67AB4EA8-53D5-1165-C718-104885CF4239}"/>
              </a:ext>
            </a:extLst>
          </p:cNvPr>
          <p:cNvSpPr/>
          <p:nvPr/>
        </p:nvSpPr>
        <p:spPr>
          <a:xfrm>
            <a:off x="2606040" y="31912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300" dirty="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A1342357-AF1B-B4FB-24C8-3D42987B3EEB}"/>
              </a:ext>
            </a:extLst>
          </p:cNvPr>
          <p:cNvSpPr/>
          <p:nvPr/>
        </p:nvSpPr>
        <p:spPr>
          <a:xfrm>
            <a:off x="2606040" y="34655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900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8D2AE49E-59AE-5A71-C0B8-EA92B1FBD46F}"/>
              </a:ext>
            </a:extLst>
          </p:cNvPr>
          <p:cNvSpPr/>
          <p:nvPr/>
        </p:nvSpPr>
        <p:spPr>
          <a:xfrm>
            <a:off x="4754880" y="3136392"/>
            <a:ext cx="1965960" cy="749808"/>
          </a:xfrm>
          <a:prstGeom prst="rect">
            <a:avLst/>
          </a:prstGeom>
          <a:solidFill>
            <a:srgbClr val="634A08">
              <a:alpha val="25000"/>
            </a:srgbClr>
          </a:solidFill>
          <a:ln w="6350">
            <a:solidFill>
              <a:srgbClr val="EF9F2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598D51F6-81DB-3BAA-BE7F-FFFC666386C0}"/>
              </a:ext>
            </a:extLst>
          </p:cNvPr>
          <p:cNvSpPr/>
          <p:nvPr/>
        </p:nvSpPr>
        <p:spPr>
          <a:xfrm>
            <a:off x="4754880" y="3191256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41" name="Text 40">
            <a:extLst>
              <a:ext uri="{FF2B5EF4-FFF2-40B4-BE49-F238E27FC236}">
                <a16:creationId xmlns:a16="http://schemas.microsoft.com/office/drawing/2014/main" id="{48191DD9-4FD3-FCF7-BF08-83E5C55CF504}"/>
              </a:ext>
            </a:extLst>
          </p:cNvPr>
          <p:cNvSpPr/>
          <p:nvPr/>
        </p:nvSpPr>
        <p:spPr>
          <a:xfrm>
            <a:off x="4754880" y="34655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900" dirty="0"/>
          </a:p>
        </p:txBody>
      </p:sp>
      <p:sp>
        <p:nvSpPr>
          <p:cNvPr id="42" name="Shape 0">
            <a:extLst>
              <a:ext uri="{FF2B5EF4-FFF2-40B4-BE49-F238E27FC236}">
                <a16:creationId xmlns:a16="http://schemas.microsoft.com/office/drawing/2014/main" id="{4C1B7A41-1C24-6ABF-79C3-EB7B02C74B6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6E56">
              <a:alpha val="15000"/>
            </a:srgbClr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9859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13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BA32E-C2B6-DABD-3B9E-2EAB343FF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B990DD-7819-304F-D8E2-25D0A497B38E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Autenticación JWT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17EA17-957B-0E43-F0D3-A5B726CE5721}"/>
              </a:ext>
            </a:extLst>
          </p:cNvPr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Token refresh · RBAC con roles: cliente · empleado · admin</a:t>
            </a:r>
            <a:endParaRPr lang="en-US" sz="1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DF074F-0ACE-2987-1C5F-ADD73A8A12DF}"/>
              </a:ext>
            </a:extLst>
          </p:cNvPr>
          <p:cNvSpPr/>
          <p:nvPr/>
        </p:nvSpPr>
        <p:spPr>
          <a:xfrm>
            <a:off x="1463040" y="1143000"/>
            <a:ext cx="640080" cy="6400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82B16D-D53F-C839-F8BE-A9BC1F1CE102}"/>
              </a:ext>
            </a:extLst>
          </p:cNvPr>
          <p:cNvSpPr/>
          <p:nvPr/>
        </p:nvSpPr>
        <p:spPr>
          <a:xfrm>
            <a:off x="146304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998525-1D58-EB2F-7716-36248DF2D927}"/>
              </a:ext>
            </a:extLst>
          </p:cNvPr>
          <p:cNvSpPr/>
          <p:nvPr/>
        </p:nvSpPr>
        <p:spPr>
          <a:xfrm>
            <a:off x="457200" y="1828800"/>
            <a:ext cx="2606040" cy="868680"/>
          </a:xfrm>
          <a:prstGeom prst="rect">
            <a:avLst/>
          </a:prstGeom>
          <a:solidFill>
            <a:srgbClr val="534AB7">
              <a:alpha val="18000"/>
            </a:srgbClr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426863-6892-9E07-8013-32194CE88D67}"/>
              </a:ext>
            </a:extLst>
          </p:cNvPr>
          <p:cNvSpPr/>
          <p:nvPr/>
        </p:nvSpPr>
        <p:spPr>
          <a:xfrm>
            <a:off x="457200" y="1874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Request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B09E9D9-E99D-6D7F-D25F-7FCB1E03ADAA}"/>
              </a:ext>
            </a:extLst>
          </p:cNvPr>
          <p:cNvSpPr/>
          <p:nvPr/>
        </p:nvSpPr>
        <p:spPr>
          <a:xfrm>
            <a:off x="45720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+ rol</a:t>
            </a:r>
            <a:endParaRPr lang="en-US" sz="9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CF9F6E-4221-CE86-8D84-5B62D76500C2}"/>
              </a:ext>
            </a:extLst>
          </p:cNvPr>
          <p:cNvSpPr/>
          <p:nvPr/>
        </p:nvSpPr>
        <p:spPr>
          <a:xfrm>
            <a:off x="3063240" y="2240280"/>
            <a:ext cx="228600" cy="0"/>
          </a:xfrm>
          <a:prstGeom prst="line">
            <a:avLst/>
          </a:prstGeom>
          <a:noFill/>
          <a:ln w="12700">
            <a:solidFill>
              <a:srgbClr val="C2C0B6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535414-9A41-B6B0-5B7F-73061B37D781}"/>
              </a:ext>
            </a:extLst>
          </p:cNvPr>
          <p:cNvSpPr/>
          <p:nvPr/>
        </p:nvSpPr>
        <p:spPr>
          <a:xfrm>
            <a:off x="4297680" y="1143000"/>
            <a:ext cx="640080" cy="6400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49AF898-4456-12A5-7F21-137F82254BCF}"/>
              </a:ext>
            </a:extLst>
          </p:cNvPr>
          <p:cNvSpPr/>
          <p:nvPr/>
        </p:nvSpPr>
        <p:spPr>
          <a:xfrm>
            <a:off x="42976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6D492DF-62D7-224B-F0DF-1AD07D82ECD7}"/>
              </a:ext>
            </a:extLst>
          </p:cNvPr>
          <p:cNvSpPr/>
          <p:nvPr/>
        </p:nvSpPr>
        <p:spPr>
          <a:xfrm>
            <a:off x="3291840" y="1828800"/>
            <a:ext cx="2606040" cy="868680"/>
          </a:xfrm>
          <a:prstGeom prst="rect">
            <a:avLst/>
          </a:prstGeom>
          <a:solidFill>
            <a:srgbClr val="0F6E56">
              <a:alpha val="18000"/>
            </a:srgbClr>
          </a:solidFill>
          <a:ln w="635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D566920-4CE4-CBF8-9A93-FEFBE2A21FF5}"/>
              </a:ext>
            </a:extLst>
          </p:cNvPr>
          <p:cNvSpPr/>
          <p:nvPr/>
        </p:nvSpPr>
        <p:spPr>
          <a:xfrm>
            <a:off x="3291840" y="1874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Generado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7568658-22BF-14CE-3925-86439872F718}"/>
              </a:ext>
            </a:extLst>
          </p:cNvPr>
          <p:cNvSpPr/>
          <p:nvPr/>
        </p:nvSpPr>
        <p:spPr>
          <a:xfrm>
            <a:off x="329184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accessToken (15min)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 (7d)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3C0CCB7-A107-D5A8-331E-97A709342A0F}"/>
              </a:ext>
            </a:extLst>
          </p:cNvPr>
          <p:cNvSpPr/>
          <p:nvPr/>
        </p:nvSpPr>
        <p:spPr>
          <a:xfrm>
            <a:off x="5897880" y="2240280"/>
            <a:ext cx="228600" cy="0"/>
          </a:xfrm>
          <a:prstGeom prst="line">
            <a:avLst/>
          </a:prstGeom>
          <a:noFill/>
          <a:ln w="12700">
            <a:solidFill>
              <a:srgbClr val="C2C0B6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9CC0D78-B8A9-F856-E561-0BD20DEAFB5A}"/>
              </a:ext>
            </a:extLst>
          </p:cNvPr>
          <p:cNvSpPr/>
          <p:nvPr/>
        </p:nvSpPr>
        <p:spPr>
          <a:xfrm>
            <a:off x="7132320" y="1143000"/>
            <a:ext cx="640080" cy="640080"/>
          </a:xfrm>
          <a:prstGeom prst="ellipse">
            <a:avLst/>
          </a:prstGeom>
          <a:solidFill>
            <a:srgbClr val="634A08"/>
          </a:solidFill>
          <a:ln w="1270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8E3773E-EC04-1EDF-DFB4-1BA72E23A2DD}"/>
              </a:ext>
            </a:extLst>
          </p:cNvPr>
          <p:cNvSpPr/>
          <p:nvPr/>
        </p:nvSpPr>
        <p:spPr>
          <a:xfrm>
            <a:off x="71323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84B401B-5523-C162-80B5-9B9FB9C911C8}"/>
              </a:ext>
            </a:extLst>
          </p:cNvPr>
          <p:cNvSpPr/>
          <p:nvPr/>
        </p:nvSpPr>
        <p:spPr>
          <a:xfrm>
            <a:off x="6126480" y="1828800"/>
            <a:ext cx="2606040" cy="868680"/>
          </a:xfrm>
          <a:prstGeom prst="rect">
            <a:avLst/>
          </a:prstGeom>
          <a:solidFill>
            <a:srgbClr val="634A08">
              <a:alpha val="18000"/>
            </a:srgbClr>
          </a:solidFill>
          <a:ln w="6350">
            <a:solidFill>
              <a:srgbClr val="FAC7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37E71BB-6E5B-6F19-21D6-567842F24717}"/>
              </a:ext>
            </a:extLst>
          </p:cNvPr>
          <p:cNvSpPr/>
          <p:nvPr/>
        </p:nvSpPr>
        <p:spPr>
          <a:xfrm>
            <a:off x="6126480" y="1874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</a:t>
            </a: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524B70B-2DF1-7BCD-AC1F-CFBD48F347D7}"/>
              </a:ext>
            </a:extLst>
          </p:cNvPr>
          <p:cNvSpPr/>
          <p:nvPr/>
        </p:nvSpPr>
        <p:spPr>
          <a:xfrm>
            <a:off x="6126480" y="2148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header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petición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B99B7BB-7757-E73C-8408-22A7834754E5}"/>
              </a:ext>
            </a:extLst>
          </p:cNvPr>
          <p:cNvSpPr/>
          <p:nvPr/>
        </p:nvSpPr>
        <p:spPr>
          <a:xfrm>
            <a:off x="1463040" y="2834640"/>
            <a:ext cx="640080" cy="64008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F476308-0D46-212E-BAA5-1E9D6FFA7964}"/>
              </a:ext>
            </a:extLst>
          </p:cNvPr>
          <p:cNvSpPr/>
          <p:nvPr/>
        </p:nvSpPr>
        <p:spPr>
          <a:xfrm>
            <a:off x="146304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63D3A27-E2A7-0FA7-E014-C0B2CE35CCBF}"/>
              </a:ext>
            </a:extLst>
          </p:cNvPr>
          <p:cNvSpPr/>
          <p:nvPr/>
        </p:nvSpPr>
        <p:spPr>
          <a:xfrm>
            <a:off x="457200" y="3520440"/>
            <a:ext cx="2606040" cy="868680"/>
          </a:xfrm>
          <a:prstGeom prst="rect">
            <a:avLst/>
          </a:prstGeom>
          <a:solidFill>
            <a:srgbClr val="534AB7">
              <a:alpha val="18000"/>
            </a:srgbClr>
          </a:solidFill>
          <a:ln w="6350">
            <a:solidFill>
              <a:srgbClr val="CECB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A4E278D-3738-04BE-8BA5-53E183691BE9}"/>
              </a:ext>
            </a:extLst>
          </p:cNvPr>
          <p:cNvSpPr/>
          <p:nvPr/>
        </p:nvSpPr>
        <p:spPr>
          <a:xfrm>
            <a:off x="457200" y="3566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EC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authMiddleware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F0E587A-AF7F-B2A9-2162-ADA29C38EAB3}"/>
              </a:ext>
            </a:extLst>
          </p:cNvPr>
          <p:cNvSpPr/>
          <p:nvPr/>
        </p:nvSpPr>
        <p:spPr>
          <a:xfrm>
            <a:off x="457200" y="3840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JWT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payload + rol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FD9352B-F950-6CAA-0FE5-C185AB096776}"/>
              </a:ext>
            </a:extLst>
          </p:cNvPr>
          <p:cNvSpPr/>
          <p:nvPr/>
        </p:nvSpPr>
        <p:spPr>
          <a:xfrm>
            <a:off x="3063240" y="3931920"/>
            <a:ext cx="228600" cy="0"/>
          </a:xfrm>
          <a:prstGeom prst="line">
            <a:avLst/>
          </a:prstGeom>
          <a:noFill/>
          <a:ln w="12700">
            <a:solidFill>
              <a:srgbClr val="C2C0B6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7EE9FAD-D858-764C-378D-DCB6F9720A34}"/>
              </a:ext>
            </a:extLst>
          </p:cNvPr>
          <p:cNvSpPr/>
          <p:nvPr/>
        </p:nvSpPr>
        <p:spPr>
          <a:xfrm>
            <a:off x="4297680" y="2834640"/>
            <a:ext cx="640080" cy="64008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1355F79-39F0-A23D-44FB-B4A5B9317817}"/>
              </a:ext>
            </a:extLst>
          </p:cNvPr>
          <p:cNvSpPr/>
          <p:nvPr/>
        </p:nvSpPr>
        <p:spPr>
          <a:xfrm>
            <a:off x="42976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302988F-D336-A2BC-6A22-DDC82FDE395F}"/>
              </a:ext>
            </a:extLst>
          </p:cNvPr>
          <p:cNvSpPr/>
          <p:nvPr/>
        </p:nvSpPr>
        <p:spPr>
          <a:xfrm>
            <a:off x="3291840" y="3520440"/>
            <a:ext cx="2606040" cy="868680"/>
          </a:xfrm>
          <a:prstGeom prst="rect">
            <a:avLst/>
          </a:prstGeom>
          <a:solidFill>
            <a:srgbClr val="0F6E56">
              <a:alpha val="18000"/>
            </a:srgbClr>
          </a:solidFill>
          <a:ln w="635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561BD08-767B-852E-C400-C9084392C30E}"/>
              </a:ext>
            </a:extLst>
          </p:cNvPr>
          <p:cNvSpPr/>
          <p:nvPr/>
        </p:nvSpPr>
        <p:spPr>
          <a:xfrm>
            <a:off x="3291840" y="3566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requireRole</a:t>
            </a: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24E8EFF-0149-A0A8-0961-54A08B6BEBD6}"/>
              </a:ext>
            </a:extLst>
          </p:cNvPr>
          <p:cNvSpPr/>
          <p:nvPr/>
        </p:nvSpPr>
        <p:spPr>
          <a:xfrm>
            <a:off x="3291840" y="3840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comprueba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autorizado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4E3D5A5F-6268-BB9C-969E-EA60D55195B5}"/>
              </a:ext>
            </a:extLst>
          </p:cNvPr>
          <p:cNvSpPr/>
          <p:nvPr/>
        </p:nvSpPr>
        <p:spPr>
          <a:xfrm>
            <a:off x="5897880" y="3931920"/>
            <a:ext cx="228600" cy="0"/>
          </a:xfrm>
          <a:prstGeom prst="line">
            <a:avLst/>
          </a:prstGeom>
          <a:noFill/>
          <a:ln w="12700">
            <a:solidFill>
              <a:srgbClr val="C2C0B6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E4464C6B-5923-C24F-3166-820F8F999B1F}"/>
              </a:ext>
            </a:extLst>
          </p:cNvPr>
          <p:cNvSpPr/>
          <p:nvPr/>
        </p:nvSpPr>
        <p:spPr>
          <a:xfrm>
            <a:off x="7132320" y="2834640"/>
            <a:ext cx="640080" cy="640080"/>
          </a:xfrm>
          <a:prstGeom prst="ellipse">
            <a:avLst/>
          </a:prstGeom>
          <a:solidFill>
            <a:srgbClr val="444441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FACB969-B6AA-E7BB-0FEE-F97349A78C52}"/>
              </a:ext>
            </a:extLst>
          </p:cNvPr>
          <p:cNvSpPr/>
          <p:nvPr/>
        </p:nvSpPr>
        <p:spPr>
          <a:xfrm>
            <a:off x="713232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3EDDFD1-6010-AA22-9174-DD29EDDB0E59}"/>
              </a:ext>
            </a:extLst>
          </p:cNvPr>
          <p:cNvSpPr/>
          <p:nvPr/>
        </p:nvSpPr>
        <p:spPr>
          <a:xfrm>
            <a:off x="6126480" y="3520440"/>
            <a:ext cx="2606040" cy="868680"/>
          </a:xfrm>
          <a:prstGeom prst="rect">
            <a:avLst/>
          </a:prstGeom>
          <a:solidFill>
            <a:srgbClr val="444441">
              <a:alpha val="18000"/>
            </a:srgbClr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AAC2E6E-769C-F8E4-3136-78F47147407F}"/>
              </a:ext>
            </a:extLst>
          </p:cNvPr>
          <p:cNvSpPr/>
          <p:nvPr/>
        </p:nvSpPr>
        <p:spPr>
          <a:xfrm>
            <a:off x="6126480" y="3566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API</a:t>
            </a: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B9777CA-CCC1-DDE1-8357-A2C136420C26}"/>
              </a:ext>
            </a:extLst>
          </p:cNvPr>
          <p:cNvSpPr/>
          <p:nvPr/>
        </p:nvSpPr>
        <p:spPr>
          <a:xfrm>
            <a:off x="6126480" y="3840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según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2C0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del usuario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619351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114800" cy="4114800"/>
          </a:xfrm>
          <a:prstGeom prst="ellipse">
            <a:avLst/>
          </a:prstGeom>
          <a:solidFill>
            <a:srgbClr val="E94560">
              <a:alpha val="1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114800" cy="4114800"/>
          </a:xfrm>
          <a:prstGeom prst="ellipse">
            <a:avLst/>
          </a:prstGeom>
          <a:solidFill>
            <a:srgbClr val="0F3460">
              <a:alpha val="25000"/>
            </a:srgbClr>
          </a:solidFill>
          <a:ln/>
        </p:spPr>
        <p:txBody>
          <a:bodyPr/>
          <a:lstStyle/>
          <a:p>
            <a:endParaRPr lang="es-E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114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1430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negocio, organizado.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Tus clientes, fidelizados.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2606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hoy con AgendaFlow y transforma la gestión de tu peluquería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ventaja competitiva real.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29000" y="3527994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E9456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pPr algn="ctr"/>
            <a:endParaRPr lang="es-ES" dirty="0"/>
          </a:p>
        </p:txBody>
      </p:sp>
      <p:sp>
        <p:nvSpPr>
          <p:cNvPr id="8" name="Text 5"/>
          <p:cNvSpPr/>
          <p:nvPr/>
        </p:nvSpPr>
        <p:spPr>
          <a:xfrm>
            <a:off x="3429000" y="35101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Demo </a:t>
            </a:r>
            <a:r>
              <a:rPr lang="en-US" sz="1400" b="1" dirty="0">
                <a:solidFill>
                  <a:srgbClr val="FFFFFF"/>
                </a:solidFill>
                <a:hlinkClick r:id="rId4"/>
              </a:rPr>
              <a:t>Gratuita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352044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agendaflow.com  ·  hola@agendaflow.com 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AgendaFlow — La tecnología que hace crecer tu negocio de belleza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1280</Words>
  <Application>Microsoft Office PowerPoint</Application>
  <PresentationFormat>Presentación en pantalla (16:9)</PresentationFormat>
  <Paragraphs>292</Paragraphs>
  <Slides>16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AgendaFlow – Presentación Comercial</dc:title>
  <dc:subject>PptxGenJS Presentation</dc:subject>
  <dc:creator>AgendaFlow Tech</dc:creator>
  <cp:lastModifiedBy>ADRIÁN BRIHUEGA SÁNCHEZ</cp:lastModifiedBy>
  <cp:revision>9</cp:revision>
  <dcterms:created xsi:type="dcterms:W3CDTF">2026-05-02T14:28:48Z</dcterms:created>
  <dcterms:modified xsi:type="dcterms:W3CDTF">2026-05-04T19:59:18Z</dcterms:modified>
</cp:coreProperties>
</file>